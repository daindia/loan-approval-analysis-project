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6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1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9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4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4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6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5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3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1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45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B48AB-48D1-0924-9026-4139729B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10932-1B76-48E9-34E4-72C6AA09D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ZA" sz="3600" dirty="0"/>
              <a:t>Loan Approval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9F424-57B1-BC88-681D-3839BDBF5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 fontScale="92500"/>
          </a:bodyPr>
          <a:lstStyle/>
          <a:p>
            <a:pPr algn="r"/>
            <a:r>
              <a:rPr lang="en-GB" sz="1800" dirty="0"/>
              <a:t>Uncovering hiding when it comes to loan approvals based on education and self-employment status</a:t>
            </a: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170614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6109-5C57-3994-CAA6-E8C4AC52D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3110-74B2-E191-9054-3596DADDB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After controlling for CIBIL score and income, approval rates were nearly identical across groups: graduates (</a:t>
            </a:r>
            <a:r>
              <a:rPr lang="en-GB" sz="1800" b="1" i="1" dirty="0"/>
              <a:t>62.45%</a:t>
            </a:r>
            <a:r>
              <a:rPr lang="en-GB" sz="1800" dirty="0"/>
              <a:t>) vs. non-graduates (</a:t>
            </a:r>
            <a:r>
              <a:rPr lang="en-GB" sz="1800" b="1" i="1" dirty="0"/>
              <a:t>61.98%</a:t>
            </a:r>
            <a:r>
              <a:rPr lang="en-GB" sz="1800" dirty="0"/>
              <a:t>), and self-employed (</a:t>
            </a:r>
            <a:r>
              <a:rPr lang="en-GB" sz="1800" b="1" i="1" dirty="0"/>
              <a:t>62.23%</a:t>
            </a:r>
            <a:r>
              <a:rPr lang="en-GB" sz="1800" dirty="0"/>
              <a:t>) vs. non-self-employed (</a:t>
            </a:r>
            <a:r>
              <a:rPr lang="en-GB" sz="1800" b="1" i="1" dirty="0"/>
              <a:t>62.20%</a:t>
            </a:r>
            <a:r>
              <a:rPr lang="en-GB" sz="1800" dirty="0"/>
              <a:t>). These marginal differences indicate no meaningful bias in loan approvals based on education or employment status.</a:t>
            </a:r>
          </a:p>
          <a:p>
            <a:r>
              <a:rPr lang="en-GB" sz="1800" dirty="0"/>
              <a:t>Further analysis indicated that applicants with a CIBIL score of less than 550 (about </a:t>
            </a:r>
            <a:r>
              <a:rPr lang="en-GB" sz="1800" b="1" i="1" dirty="0"/>
              <a:t>42% </a:t>
            </a:r>
            <a:r>
              <a:rPr lang="en-GB" sz="1800" dirty="0"/>
              <a:t>of applicants) have shown a loan approval rate of only </a:t>
            </a:r>
            <a:r>
              <a:rPr lang="en-GB" sz="1800" b="1" i="1" dirty="0"/>
              <a:t>10.36%</a:t>
            </a:r>
            <a:r>
              <a:rPr lang="en-GB" sz="1800" dirty="0"/>
              <a:t>. While applicants with a higher CIBIL score have shown an above-average (more than </a:t>
            </a:r>
            <a:r>
              <a:rPr lang="en-GB" sz="1800" b="1" i="1" dirty="0"/>
              <a:t>50%</a:t>
            </a:r>
            <a:r>
              <a:rPr lang="en-GB" sz="1800" dirty="0"/>
              <a:t>) loan approval rate. This simply tells us that creditworthiness is a much better predictor of loan approvals than education and employment status. </a:t>
            </a:r>
          </a:p>
          <a:p>
            <a:r>
              <a:rPr lang="en-GB" sz="1800" dirty="0"/>
              <a:t>Among applicants with low CIBIL scores (under 550), short-term loans (≤4 years) had a </a:t>
            </a:r>
            <a:r>
              <a:rPr lang="en-GB" sz="1800" b="1" i="1" dirty="0"/>
              <a:t>52.41%</a:t>
            </a:r>
            <a:r>
              <a:rPr lang="en-GB" sz="1800" dirty="0"/>
              <a:t> approval rate. Longer-term loans received zero approvals.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389654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25E1E-4C9E-C6B7-EFAF-35FA0A70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630" y="448181"/>
            <a:ext cx="7445661" cy="114693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Loan approval rates by subcategory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600FFC-92AF-4AD3-9595-B0E23476B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195590" y="661358"/>
            <a:ext cx="0" cy="57607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500BC08-998B-A2D1-BAFF-A3575D5E5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996" y="2204253"/>
            <a:ext cx="7339808" cy="365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A1B62-2215-4558-3E18-6A9D3810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r>
              <a:rPr lang="en-ZA" sz="3600" dirty="0"/>
              <a:t>Approval rate by CIBIL SCORE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27C5E3-1417-4C95-7E0B-76414F3861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47" y="846899"/>
            <a:ext cx="9413172" cy="25821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328866B-7BD7-D08B-48BB-2E4236E22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>
            <a:normAutofit/>
          </a:bodyPr>
          <a:lstStyle/>
          <a:p>
            <a:r>
              <a:rPr lang="en-US" dirty="0"/>
              <a:t>Applicants with poor CIBIL score rarely ever get their loans approved.</a:t>
            </a:r>
          </a:p>
          <a:p>
            <a:r>
              <a:rPr lang="en-US" dirty="0"/>
              <a:t>Applicants needed a decent CIBIL score to gain a better chance in getting their loan approved.</a:t>
            </a:r>
          </a:p>
        </p:txBody>
      </p:sp>
    </p:spTree>
    <p:extLst>
      <p:ext uri="{BB962C8B-B14F-4D97-AF65-F5344CB8AC3E}">
        <p14:creationId xmlns:p14="http://schemas.microsoft.com/office/powerpoint/2010/main" val="348296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58AB4-0360-F0AF-D389-60936E4B3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r>
              <a:rPr lang="en-ZA" sz="3200" dirty="0"/>
              <a:t>Applicants with A LOW CIBIL SCORE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D9EA60-03D7-C448-846F-6B52F9FA0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816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081668-6089-2EE7-C383-E08DA2DBD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>
            <a:normAutofit/>
          </a:bodyPr>
          <a:lstStyle/>
          <a:p>
            <a:r>
              <a:rPr lang="en-GB" dirty="0"/>
              <a:t>Despite a poor CIBIL score, the majority of applicants applying for short-term and/or small loans get approved.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00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D49D-93DA-FD62-970D-BEB456E9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C1C33-584E-044A-961B-32798B47D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Ensure to build-up and maintain a good credit score.</a:t>
            </a:r>
          </a:p>
          <a:p>
            <a:r>
              <a:rPr lang="en-ZA" dirty="0"/>
              <a:t>For applicants with low credit scores, they should apply for small or short-term loans.</a:t>
            </a:r>
          </a:p>
        </p:txBody>
      </p:sp>
    </p:spTree>
    <p:extLst>
      <p:ext uri="{BB962C8B-B14F-4D97-AF65-F5344CB8AC3E}">
        <p14:creationId xmlns:p14="http://schemas.microsoft.com/office/powerpoint/2010/main" val="1801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E78F-DBB7-9913-9F48-7A6B718E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Dashboard Preview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4AD26-D501-8DFB-F4C1-7227358D6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Controlled for CIBIL score</a:t>
            </a:r>
          </a:p>
        </p:txBody>
      </p:sp>
      <p:pic>
        <p:nvPicPr>
          <p:cNvPr id="8" name="Content Placeholder 7" descr="A graph of a bar chart&#10;&#10;AI-generated content may be incorrect.">
            <a:extLst>
              <a:ext uri="{FF2B5EF4-FFF2-40B4-BE49-F238E27FC236}">
                <a16:creationId xmlns:a16="http://schemas.microsoft.com/office/drawing/2014/main" id="{F2416FC0-8DE5-4D45-512F-A92103C662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2655052"/>
            <a:ext cx="5211763" cy="309570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0B64B-1B48-124A-E002-4C9316219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/>
              <a:t>Controlled for Annual Income</a:t>
            </a:r>
          </a:p>
        </p:txBody>
      </p:sp>
      <p:pic>
        <p:nvPicPr>
          <p:cNvPr id="10" name="Content Placeholder 9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B283F0B9-9CAF-F0A9-E077-155AF34362F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2683516"/>
            <a:ext cx="5211763" cy="3038780"/>
          </a:xfrm>
        </p:spPr>
      </p:pic>
    </p:spTree>
    <p:extLst>
      <p:ext uri="{BB962C8B-B14F-4D97-AF65-F5344CB8AC3E}">
        <p14:creationId xmlns:p14="http://schemas.microsoft.com/office/powerpoint/2010/main" val="343712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CA17-768F-10E9-AFF9-3D01FA19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For an interactive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FBF3-6CF7-0FDB-5546-1D64F6492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https://public.tableau.com/app/profile/aron.moganedi/viz/LoanApprovalBiasAssessment/Approvalratedistributiondashboardincomeannum/</a:t>
            </a:r>
          </a:p>
        </p:txBody>
      </p:sp>
    </p:spTree>
    <p:extLst>
      <p:ext uri="{BB962C8B-B14F-4D97-AF65-F5344CB8AC3E}">
        <p14:creationId xmlns:p14="http://schemas.microsoft.com/office/powerpoint/2010/main" val="394284770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302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Univers Condensed</vt:lpstr>
      <vt:lpstr>ChronicleVTI</vt:lpstr>
      <vt:lpstr>Loan Approval analysis</vt:lpstr>
      <vt:lpstr>Key FINDINGS</vt:lpstr>
      <vt:lpstr>Loan approval rates by subcategory</vt:lpstr>
      <vt:lpstr>Approval rate by CIBIL SCORE</vt:lpstr>
      <vt:lpstr>Applicants with A LOW CIBIL SCORE</vt:lpstr>
      <vt:lpstr>Recommendations</vt:lpstr>
      <vt:lpstr>Dashboard Preview</vt:lpstr>
      <vt:lpstr>For an interactive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ARON JALI LIFA MOGANEDI</dc:creator>
  <cp:lastModifiedBy>ARON JALI LIFA MOGANEDI</cp:lastModifiedBy>
  <cp:revision>3</cp:revision>
  <dcterms:created xsi:type="dcterms:W3CDTF">2026-03-31T09:15:34Z</dcterms:created>
  <dcterms:modified xsi:type="dcterms:W3CDTF">2026-03-31T16:29:48Z</dcterms:modified>
</cp:coreProperties>
</file>